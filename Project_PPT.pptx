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Poppins Ultra-Bold" charset="1" panose="00000900000000000000"/>
      <p:regular r:id="rId19"/>
    </p:embeddedFont>
    <p:embeddedFont>
      <p:font typeface="Poppins Medium" charset="1" panose="00000600000000000000"/>
      <p:regular r:id="rId20"/>
    </p:embeddedFont>
    <p:embeddedFont>
      <p:font typeface="Poppins Bold" charset="1" panose="00000800000000000000"/>
      <p:regular r:id="rId21"/>
    </p:embeddedFont>
    <p:embeddedFont>
      <p:font typeface="Poppins" charset="1" panose="000005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8.png" Type="http://schemas.openxmlformats.org/officeDocument/2006/relationships/image"/><Relationship Id="rId8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5400000">
            <a:off x="4906679" y="-1009491"/>
            <a:ext cx="8448813" cy="12525195"/>
          </a:xfrm>
          <a:custGeom>
            <a:avLst/>
            <a:gdLst/>
            <a:ahLst/>
            <a:cxnLst/>
            <a:rect r="r" b="b" t="t" l="l"/>
            <a:pathLst>
              <a:path h="12525195" w="8448813">
                <a:moveTo>
                  <a:pt x="8448814" y="0"/>
                </a:moveTo>
                <a:lnTo>
                  <a:pt x="0" y="0"/>
                </a:lnTo>
                <a:lnTo>
                  <a:pt x="0" y="12525195"/>
                </a:lnTo>
                <a:lnTo>
                  <a:pt x="8448814" y="12525195"/>
                </a:lnTo>
                <a:lnTo>
                  <a:pt x="8448814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823246" y="6876679"/>
            <a:ext cx="5116689" cy="1460582"/>
          </a:xfrm>
          <a:custGeom>
            <a:avLst/>
            <a:gdLst/>
            <a:ahLst/>
            <a:cxnLst/>
            <a:rect r="r" b="b" t="t" l="l"/>
            <a:pathLst>
              <a:path h="1460582" w="5116689">
                <a:moveTo>
                  <a:pt x="0" y="0"/>
                </a:moveTo>
                <a:lnTo>
                  <a:pt x="5116690" y="0"/>
                </a:lnTo>
                <a:lnTo>
                  <a:pt x="5116690" y="1460582"/>
                </a:lnTo>
                <a:lnTo>
                  <a:pt x="0" y="146058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601990" y="2899710"/>
            <a:ext cx="7058193" cy="3173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32"/>
              </a:lnSpc>
            </a:pPr>
            <a:r>
              <a:rPr lang="en-US" b="true" sz="4932">
                <a:solidFill>
                  <a:srgbClr val="6943A4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OPTIMIZING HOSPITALITY: DATA-DRIVEN INSIGHTS INTO INDIA'S HOTEL ECONOMY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045622" y="7292672"/>
            <a:ext cx="4196756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by Tanmay Kadwe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5400000">
            <a:off x="4523470" y="-1746889"/>
            <a:ext cx="9241060" cy="13699684"/>
          </a:xfrm>
          <a:custGeom>
            <a:avLst/>
            <a:gdLst/>
            <a:ahLst/>
            <a:cxnLst/>
            <a:rect r="r" b="b" t="t" l="l"/>
            <a:pathLst>
              <a:path h="13699684" w="9241060">
                <a:moveTo>
                  <a:pt x="9241060" y="0"/>
                </a:moveTo>
                <a:lnTo>
                  <a:pt x="0" y="0"/>
                </a:lnTo>
                <a:lnTo>
                  <a:pt x="0" y="13699684"/>
                </a:lnTo>
                <a:lnTo>
                  <a:pt x="9241060" y="13699684"/>
                </a:lnTo>
                <a:lnTo>
                  <a:pt x="924106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358343" y="1628283"/>
            <a:ext cx="5571315" cy="1590357"/>
          </a:xfrm>
          <a:custGeom>
            <a:avLst/>
            <a:gdLst/>
            <a:ahLst/>
            <a:cxnLst/>
            <a:rect r="r" b="b" t="t" l="l"/>
            <a:pathLst>
              <a:path h="1590357" w="5571315">
                <a:moveTo>
                  <a:pt x="0" y="0"/>
                </a:moveTo>
                <a:lnTo>
                  <a:pt x="5571314" y="0"/>
                </a:lnTo>
                <a:lnTo>
                  <a:pt x="5571314" y="1590357"/>
                </a:lnTo>
                <a:lnTo>
                  <a:pt x="0" y="159035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388277" y="1744011"/>
            <a:ext cx="2988160" cy="1254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EXECUTIVE SUMMARY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378369" y="3692525"/>
            <a:ext cx="8201689" cy="4822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593EA1"/>
                </a:solidFill>
                <a:latin typeface="Poppins"/>
                <a:ea typeface="Poppins"/>
                <a:cs typeface="Poppins"/>
                <a:sym typeface="Poppins"/>
              </a:rPr>
              <a:t>This project focuses on:</a:t>
            </a:r>
          </a:p>
          <a:p>
            <a:pPr algn="l" marL="539748" indent="-269874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593EA1"/>
                </a:solidFill>
                <a:latin typeface="Poppins"/>
                <a:ea typeface="Poppins"/>
                <a:cs typeface="Poppins"/>
                <a:sym typeface="Poppins"/>
              </a:rPr>
              <a:t>Analyzing hotel price patterns across Tier-1 cities</a:t>
            </a:r>
          </a:p>
          <a:p>
            <a:pPr algn="l" marL="539748" indent="-269874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593EA1"/>
                </a:solidFill>
                <a:latin typeface="Poppins"/>
                <a:ea typeface="Poppins"/>
                <a:cs typeface="Poppins"/>
                <a:sym typeface="Poppins"/>
              </a:rPr>
              <a:t>Understanding customer rating behavior</a:t>
            </a:r>
          </a:p>
          <a:p>
            <a:pPr algn="l" marL="539748" indent="-269874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593EA1"/>
                </a:solidFill>
                <a:latin typeface="Poppins"/>
                <a:ea typeface="Poppins"/>
                <a:cs typeface="Poppins"/>
                <a:sym typeface="Poppins"/>
              </a:rPr>
              <a:t>Evaluating the relationship between price and c</a:t>
            </a:r>
            <a:r>
              <a:rPr lang="en-US" sz="2499">
                <a:solidFill>
                  <a:srgbClr val="593EA1"/>
                </a:solidFill>
                <a:latin typeface="Poppins"/>
                <a:ea typeface="Poppins"/>
                <a:cs typeface="Poppins"/>
                <a:sym typeface="Poppins"/>
              </a:rPr>
              <a:t>ustomer satisfaction</a:t>
            </a:r>
          </a:p>
          <a:p>
            <a:pPr algn="l" marL="539748" indent="-269874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593EA1"/>
                </a:solidFill>
                <a:latin typeface="Poppins"/>
                <a:ea typeface="Poppins"/>
                <a:cs typeface="Poppins"/>
                <a:sym typeface="Poppins"/>
              </a:rPr>
              <a:t>Identifying top-performing hotels within each city</a:t>
            </a:r>
          </a:p>
          <a:p>
            <a:pPr algn="l" marL="539748" indent="-269874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593EA1"/>
                </a:solidFill>
                <a:latin typeface="Poppins"/>
                <a:ea typeface="Poppins"/>
                <a:cs typeface="Poppins"/>
                <a:sym typeface="Poppins"/>
              </a:rPr>
              <a:t>Delivering actionable insights through Power BI dashboards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5400000">
            <a:off x="4523470" y="-1746889"/>
            <a:ext cx="9241060" cy="13699684"/>
          </a:xfrm>
          <a:custGeom>
            <a:avLst/>
            <a:gdLst/>
            <a:ahLst/>
            <a:cxnLst/>
            <a:rect r="r" b="b" t="t" l="l"/>
            <a:pathLst>
              <a:path h="13699684" w="9241060">
                <a:moveTo>
                  <a:pt x="9241060" y="0"/>
                </a:moveTo>
                <a:lnTo>
                  <a:pt x="0" y="0"/>
                </a:lnTo>
                <a:lnTo>
                  <a:pt x="0" y="13699684"/>
                </a:lnTo>
                <a:lnTo>
                  <a:pt x="9241060" y="13699684"/>
                </a:lnTo>
                <a:lnTo>
                  <a:pt x="924106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427945" y="1380260"/>
            <a:ext cx="5124031" cy="1462678"/>
          </a:xfrm>
          <a:custGeom>
            <a:avLst/>
            <a:gdLst/>
            <a:ahLst/>
            <a:cxnLst/>
            <a:rect r="r" b="b" t="t" l="l"/>
            <a:pathLst>
              <a:path h="1462678" w="5124031">
                <a:moveTo>
                  <a:pt x="0" y="0"/>
                </a:moveTo>
                <a:lnTo>
                  <a:pt x="5124031" y="0"/>
                </a:lnTo>
                <a:lnTo>
                  <a:pt x="5124031" y="1462678"/>
                </a:lnTo>
                <a:lnTo>
                  <a:pt x="0" y="146267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935272" y="2890600"/>
            <a:ext cx="8417455" cy="4822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593EA1"/>
                </a:solidFill>
                <a:latin typeface="Poppins"/>
                <a:ea typeface="Poppins"/>
                <a:cs typeface="Poppins"/>
                <a:sym typeface="Poppins"/>
              </a:rPr>
              <a:t>Key Business Questions:</a:t>
            </a:r>
          </a:p>
          <a:p>
            <a:pPr algn="l" marL="539748" indent="-269874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593EA1"/>
                </a:solidFill>
                <a:latin typeface="Poppins"/>
                <a:ea typeface="Poppins"/>
                <a:cs typeface="Poppins"/>
                <a:sym typeface="Poppins"/>
              </a:rPr>
              <a:t>How are hotel prices distributed within and across cities?</a:t>
            </a:r>
          </a:p>
          <a:p>
            <a:pPr algn="l" marL="539748" indent="-269874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593EA1"/>
                </a:solidFill>
                <a:latin typeface="Poppins"/>
                <a:ea typeface="Poppins"/>
                <a:cs typeface="Poppins"/>
                <a:sym typeface="Poppins"/>
              </a:rPr>
              <a:t>Do higher-priced hotels consistently receive higher ratings?</a:t>
            </a:r>
          </a:p>
          <a:p>
            <a:pPr algn="l" marL="539748" indent="-269874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593EA1"/>
                </a:solidFill>
                <a:latin typeface="Poppins"/>
                <a:ea typeface="Poppins"/>
                <a:cs typeface="Poppins"/>
                <a:sym typeface="Poppins"/>
              </a:rPr>
              <a:t>Which cities offer better value-for-money hotels?</a:t>
            </a:r>
          </a:p>
          <a:p>
            <a:pPr algn="l" marL="539748" indent="-269874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593EA1"/>
                </a:solidFill>
                <a:latin typeface="Poppins"/>
                <a:ea typeface="Poppins"/>
                <a:cs typeface="Poppins"/>
                <a:sym typeface="Poppins"/>
              </a:rPr>
              <a:t>Which hotels perform best in terms of ratings and reviews?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593EA1"/>
                </a:solidFill>
                <a:latin typeface="Poppins"/>
                <a:ea typeface="Poppins"/>
                <a:cs typeface="Poppins"/>
                <a:sym typeface="Poppins"/>
              </a:rPr>
              <a:t>Goal: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593EA1"/>
                </a:solidFill>
                <a:latin typeface="Poppins"/>
                <a:ea typeface="Poppins"/>
                <a:cs typeface="Poppins"/>
                <a:sym typeface="Poppins"/>
              </a:rPr>
              <a:t> Enable data-driven decision-making for travelers, hotel owners, and travel platforms.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282921" y="1432149"/>
            <a:ext cx="2988160" cy="1254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BUSINESS OBJECTIVES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5400000">
            <a:off x="3194433" y="-1746889"/>
            <a:ext cx="9241060" cy="13699684"/>
          </a:xfrm>
          <a:custGeom>
            <a:avLst/>
            <a:gdLst/>
            <a:ahLst/>
            <a:cxnLst/>
            <a:rect r="r" b="b" t="t" l="l"/>
            <a:pathLst>
              <a:path h="13699684" w="9241060">
                <a:moveTo>
                  <a:pt x="9241059" y="0"/>
                </a:moveTo>
                <a:lnTo>
                  <a:pt x="0" y="0"/>
                </a:lnTo>
                <a:lnTo>
                  <a:pt x="0" y="13699684"/>
                </a:lnTo>
                <a:lnTo>
                  <a:pt x="9241059" y="13699684"/>
                </a:lnTo>
                <a:lnTo>
                  <a:pt x="924105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374061" y="1688163"/>
            <a:ext cx="4744410" cy="1354313"/>
          </a:xfrm>
          <a:custGeom>
            <a:avLst/>
            <a:gdLst/>
            <a:ahLst/>
            <a:cxnLst/>
            <a:rect r="r" b="b" t="t" l="l"/>
            <a:pathLst>
              <a:path h="1354313" w="4744410">
                <a:moveTo>
                  <a:pt x="0" y="0"/>
                </a:moveTo>
                <a:lnTo>
                  <a:pt x="4744410" y="0"/>
                </a:lnTo>
                <a:lnTo>
                  <a:pt x="4744410" y="1354313"/>
                </a:lnTo>
                <a:lnTo>
                  <a:pt x="0" y="135431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770248" y="3170159"/>
            <a:ext cx="8089429" cy="569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593EA1"/>
                </a:solidFill>
                <a:latin typeface="Poppins"/>
                <a:ea typeface="Poppins"/>
                <a:cs typeface="Poppins"/>
                <a:sym typeface="Poppins"/>
              </a:rPr>
              <a:t>Data Source: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593EA1"/>
                </a:solidFill>
                <a:latin typeface="Poppins"/>
                <a:ea typeface="Poppins"/>
                <a:cs typeface="Poppins"/>
                <a:sym typeface="Poppins"/>
              </a:rPr>
              <a:t>Hotel data collected using a Chrome web scraping extension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593EA1"/>
                </a:solidFill>
                <a:latin typeface="Poppins"/>
                <a:ea typeface="Poppins"/>
                <a:cs typeface="Poppins"/>
                <a:sym typeface="Poppins"/>
              </a:rPr>
              <a:t>Dataset Details: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593EA1"/>
                </a:solidFill>
                <a:latin typeface="Poppins"/>
                <a:ea typeface="Poppins"/>
                <a:cs typeface="Poppins"/>
                <a:sym typeface="Poppins"/>
              </a:rPr>
              <a:t>8 Tier-1 cities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593EA1"/>
                </a:solidFill>
                <a:latin typeface="Poppins"/>
                <a:ea typeface="Poppins"/>
                <a:cs typeface="Poppins"/>
                <a:sym typeface="Poppins"/>
              </a:rPr>
              <a:t>~150 hotels per city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593EA1"/>
                </a:solidFill>
                <a:latin typeface="Poppins"/>
                <a:ea typeface="Poppins"/>
                <a:cs typeface="Poppins"/>
                <a:sym typeface="Poppins"/>
              </a:rPr>
              <a:t>Combined into a single consolidated dataset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593EA1"/>
                </a:solidFill>
                <a:latin typeface="Poppins"/>
                <a:ea typeface="Poppins"/>
                <a:cs typeface="Poppins"/>
                <a:sym typeface="Poppins"/>
              </a:rPr>
              <a:t>Key Columns: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593EA1"/>
                </a:solidFill>
                <a:latin typeface="Poppins"/>
                <a:ea typeface="Poppins"/>
                <a:cs typeface="Poppins"/>
                <a:sym typeface="Poppins"/>
              </a:rPr>
              <a:t>Hotel Name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593EA1"/>
                </a:solidFill>
                <a:latin typeface="Poppins"/>
                <a:ea typeface="Poppins"/>
                <a:cs typeface="Poppins"/>
                <a:sym typeface="Poppins"/>
              </a:rPr>
              <a:t>City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593EA1"/>
                </a:solidFill>
                <a:latin typeface="Poppins"/>
                <a:ea typeface="Poppins"/>
                <a:cs typeface="Poppins"/>
                <a:sym typeface="Poppins"/>
              </a:rPr>
              <a:t>Price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593EA1"/>
                </a:solidFill>
                <a:latin typeface="Poppins"/>
                <a:ea typeface="Poppins"/>
                <a:cs typeface="Poppins"/>
                <a:sym typeface="Poppins"/>
              </a:rPr>
              <a:t>Rating</a:t>
            </a:r>
          </a:p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593EA1"/>
                </a:solidFill>
                <a:latin typeface="Poppins"/>
                <a:ea typeface="Poppins"/>
                <a:cs typeface="Poppins"/>
                <a:sym typeface="Poppins"/>
              </a:rPr>
              <a:t>Number of Reviews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587265" y="1900942"/>
            <a:ext cx="4036375" cy="63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DATA OVERVIEW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5400000">
            <a:off x="4523470" y="-1746889"/>
            <a:ext cx="9241060" cy="13699684"/>
          </a:xfrm>
          <a:custGeom>
            <a:avLst/>
            <a:gdLst/>
            <a:ahLst/>
            <a:cxnLst/>
            <a:rect r="r" b="b" t="t" l="l"/>
            <a:pathLst>
              <a:path h="13699684" w="9241060">
                <a:moveTo>
                  <a:pt x="9241060" y="0"/>
                </a:moveTo>
                <a:lnTo>
                  <a:pt x="0" y="0"/>
                </a:lnTo>
                <a:lnTo>
                  <a:pt x="0" y="13699684"/>
                </a:lnTo>
                <a:lnTo>
                  <a:pt x="9241060" y="13699684"/>
                </a:lnTo>
                <a:lnTo>
                  <a:pt x="924106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322416" y="1554783"/>
            <a:ext cx="4467450" cy="1275254"/>
          </a:xfrm>
          <a:custGeom>
            <a:avLst/>
            <a:gdLst/>
            <a:ahLst/>
            <a:cxnLst/>
            <a:rect r="r" b="b" t="t" l="l"/>
            <a:pathLst>
              <a:path h="1275254" w="4467450">
                <a:moveTo>
                  <a:pt x="0" y="0"/>
                </a:moveTo>
                <a:lnTo>
                  <a:pt x="4467450" y="0"/>
                </a:lnTo>
                <a:lnTo>
                  <a:pt x="4467450" y="1275254"/>
                </a:lnTo>
                <a:lnTo>
                  <a:pt x="0" y="127525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535620" y="1767563"/>
            <a:ext cx="3670718" cy="63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METHODOLOGY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227029" y="3770365"/>
            <a:ext cx="8287900" cy="3070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593EA1"/>
                </a:solidFill>
                <a:latin typeface="Poppins"/>
                <a:ea typeface="Poppins"/>
                <a:cs typeface="Poppins"/>
                <a:sym typeface="Poppins"/>
              </a:rPr>
              <a:t>End-to-End Analytics Approach: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593EA1"/>
                </a:solidFill>
                <a:latin typeface="Poppins"/>
                <a:ea typeface="Poppins"/>
                <a:cs typeface="Poppins"/>
                <a:sym typeface="Poppins"/>
              </a:rPr>
              <a:t>Data collection (city-wise scraping)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593EA1"/>
                </a:solidFill>
                <a:latin typeface="Poppins"/>
                <a:ea typeface="Poppins"/>
                <a:cs typeface="Poppins"/>
                <a:sym typeface="Poppins"/>
              </a:rPr>
              <a:t>Data cleaning &amp; preprocessing (Excel + Python)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593EA1"/>
                </a:solidFill>
                <a:latin typeface="Poppins"/>
                <a:ea typeface="Poppins"/>
                <a:cs typeface="Poppins"/>
                <a:sym typeface="Poppins"/>
              </a:rPr>
              <a:t>Exploratory Data Analysis (Python)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593EA1"/>
                </a:solidFill>
                <a:latin typeface="Poppins"/>
                <a:ea typeface="Poppins"/>
                <a:cs typeface="Poppins"/>
                <a:sym typeface="Poppins"/>
              </a:rPr>
              <a:t>Feature validation &amp; data type corrections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593EA1"/>
                </a:solidFill>
                <a:latin typeface="Poppins"/>
                <a:ea typeface="Poppins"/>
                <a:cs typeface="Poppins"/>
                <a:sym typeface="Poppins"/>
              </a:rPr>
              <a:t>Interactive dashboard development (Power BI)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5400000">
            <a:off x="3194433" y="-1746889"/>
            <a:ext cx="9241060" cy="13699684"/>
          </a:xfrm>
          <a:custGeom>
            <a:avLst/>
            <a:gdLst/>
            <a:ahLst/>
            <a:cxnLst/>
            <a:rect r="r" b="b" t="t" l="l"/>
            <a:pathLst>
              <a:path h="13699684" w="9241060">
                <a:moveTo>
                  <a:pt x="9241059" y="0"/>
                </a:moveTo>
                <a:lnTo>
                  <a:pt x="0" y="0"/>
                </a:lnTo>
                <a:lnTo>
                  <a:pt x="0" y="13699684"/>
                </a:lnTo>
                <a:lnTo>
                  <a:pt x="9241059" y="13699684"/>
                </a:lnTo>
                <a:lnTo>
                  <a:pt x="924105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949038" y="1611062"/>
            <a:ext cx="5731848" cy="1636182"/>
          </a:xfrm>
          <a:custGeom>
            <a:avLst/>
            <a:gdLst/>
            <a:ahLst/>
            <a:cxnLst/>
            <a:rect r="r" b="b" t="t" l="l"/>
            <a:pathLst>
              <a:path h="1636182" w="5731848">
                <a:moveTo>
                  <a:pt x="0" y="0"/>
                </a:moveTo>
                <a:lnTo>
                  <a:pt x="5731849" y="0"/>
                </a:lnTo>
                <a:lnTo>
                  <a:pt x="5731849" y="1636182"/>
                </a:lnTo>
                <a:lnTo>
                  <a:pt x="0" y="163618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638324" y="1749703"/>
            <a:ext cx="4353277" cy="1254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DATA CLEANING &amp; PREPROCESSING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152616" y="3811720"/>
            <a:ext cx="7646382" cy="3070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593EA1"/>
                </a:solidFill>
                <a:latin typeface="Poppins"/>
                <a:ea typeface="Poppins"/>
                <a:cs typeface="Poppins"/>
                <a:sym typeface="Poppins"/>
              </a:rPr>
              <a:t>Key Steps Performed: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593EA1"/>
                </a:solidFill>
                <a:latin typeface="Poppins"/>
                <a:ea typeface="Poppins"/>
                <a:cs typeface="Poppins"/>
                <a:sym typeface="Poppins"/>
              </a:rPr>
              <a:t>Removed duplicate hotel records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593EA1"/>
                </a:solidFill>
                <a:latin typeface="Poppins"/>
                <a:ea typeface="Poppins"/>
                <a:cs typeface="Poppins"/>
                <a:sym typeface="Poppins"/>
              </a:rPr>
              <a:t>Handled missing and inconsistent values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593EA1"/>
                </a:solidFill>
                <a:latin typeface="Poppins"/>
                <a:ea typeface="Poppins"/>
                <a:cs typeface="Poppins"/>
                <a:sym typeface="Poppins"/>
              </a:rPr>
              <a:t>Standardized price, rating, and review data types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593EA1"/>
                </a:solidFill>
                <a:latin typeface="Poppins"/>
                <a:ea typeface="Poppins"/>
                <a:cs typeface="Poppins"/>
                <a:sym typeface="Poppins"/>
              </a:rPr>
              <a:t>Ensured consistent city naming</a:t>
            </a:r>
          </a:p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593EA1"/>
                </a:solidFill>
                <a:latin typeface="Poppins"/>
                <a:ea typeface="Poppins"/>
                <a:cs typeface="Poppins"/>
                <a:sym typeface="Poppins"/>
              </a:rPr>
              <a:t>Validated numeric ranges for accuracy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5400000">
            <a:off x="3194433" y="-1746889"/>
            <a:ext cx="9241060" cy="13699684"/>
          </a:xfrm>
          <a:custGeom>
            <a:avLst/>
            <a:gdLst/>
            <a:ahLst/>
            <a:cxnLst/>
            <a:rect r="r" b="b" t="t" l="l"/>
            <a:pathLst>
              <a:path h="13699684" w="9241060">
                <a:moveTo>
                  <a:pt x="9241059" y="0"/>
                </a:moveTo>
                <a:lnTo>
                  <a:pt x="0" y="0"/>
                </a:lnTo>
                <a:lnTo>
                  <a:pt x="0" y="13699684"/>
                </a:lnTo>
                <a:lnTo>
                  <a:pt x="9241059" y="13699684"/>
                </a:lnTo>
                <a:lnTo>
                  <a:pt x="924105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684774" y="1388980"/>
            <a:ext cx="6122571" cy="1747716"/>
          </a:xfrm>
          <a:custGeom>
            <a:avLst/>
            <a:gdLst/>
            <a:ahLst/>
            <a:cxnLst/>
            <a:rect r="r" b="b" t="t" l="l"/>
            <a:pathLst>
              <a:path h="1747716" w="6122571">
                <a:moveTo>
                  <a:pt x="0" y="0"/>
                </a:moveTo>
                <a:lnTo>
                  <a:pt x="6122571" y="0"/>
                </a:lnTo>
                <a:lnTo>
                  <a:pt x="6122571" y="1747716"/>
                </a:lnTo>
                <a:lnTo>
                  <a:pt x="0" y="174771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374061" y="3706455"/>
            <a:ext cx="8089429" cy="3508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593EA1"/>
                </a:solidFill>
                <a:latin typeface="Poppins"/>
                <a:ea typeface="Poppins"/>
                <a:cs typeface="Poppins"/>
                <a:sym typeface="Poppins"/>
              </a:rPr>
              <a:t>EDA Conducted Using Python: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593EA1"/>
                </a:solidFill>
                <a:latin typeface="Poppins"/>
                <a:ea typeface="Poppins"/>
                <a:cs typeface="Poppins"/>
                <a:sym typeface="Poppins"/>
              </a:rPr>
              <a:t>Price distribution analysis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593EA1"/>
                </a:solidFill>
                <a:latin typeface="Poppins"/>
                <a:ea typeface="Poppins"/>
                <a:cs typeface="Poppins"/>
                <a:sym typeface="Poppins"/>
              </a:rPr>
              <a:t>Rating distribution analysis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593EA1"/>
                </a:solidFill>
                <a:latin typeface="Poppins"/>
                <a:ea typeface="Poppins"/>
                <a:cs typeface="Poppins"/>
                <a:sym typeface="Poppins"/>
              </a:rPr>
              <a:t>Price vs Rating relationship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593EA1"/>
                </a:solidFill>
                <a:latin typeface="Poppins"/>
                <a:ea typeface="Poppins"/>
                <a:cs typeface="Poppins"/>
                <a:sym typeface="Poppins"/>
              </a:rPr>
              <a:t>City-wise comparison of hotel metrics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593EA1"/>
                </a:solidFill>
                <a:latin typeface="Poppins"/>
                <a:ea typeface="Poppins"/>
                <a:cs typeface="Poppins"/>
                <a:sym typeface="Poppins"/>
              </a:rPr>
              <a:t>Purpose: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593EA1"/>
                </a:solidFill>
                <a:latin typeface="Poppins"/>
                <a:ea typeface="Poppins"/>
                <a:cs typeface="Poppins"/>
                <a:sym typeface="Poppins"/>
              </a:rPr>
              <a:t> Use EDA insights to design meaningful dashboard visuals.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684774" y="1583388"/>
            <a:ext cx="5245382" cy="1254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EXPLORATORY DATA ANALYSIS (EDA)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5400000">
            <a:off x="3616628" y="-2169084"/>
            <a:ext cx="10991165" cy="16294179"/>
          </a:xfrm>
          <a:custGeom>
            <a:avLst/>
            <a:gdLst/>
            <a:ahLst/>
            <a:cxnLst/>
            <a:rect r="r" b="b" t="t" l="l"/>
            <a:pathLst>
              <a:path h="16294179" w="10991165">
                <a:moveTo>
                  <a:pt x="10991165" y="0"/>
                </a:moveTo>
                <a:lnTo>
                  <a:pt x="0" y="0"/>
                </a:lnTo>
                <a:lnTo>
                  <a:pt x="0" y="16294179"/>
                </a:lnTo>
                <a:lnTo>
                  <a:pt x="10991165" y="16294179"/>
                </a:lnTo>
                <a:lnTo>
                  <a:pt x="1099116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544134" y="1544162"/>
            <a:ext cx="5044617" cy="1440009"/>
          </a:xfrm>
          <a:custGeom>
            <a:avLst/>
            <a:gdLst/>
            <a:ahLst/>
            <a:cxnLst/>
            <a:rect r="r" b="b" t="t" l="l"/>
            <a:pathLst>
              <a:path h="1440009" w="5044617">
                <a:moveTo>
                  <a:pt x="0" y="0"/>
                </a:moveTo>
                <a:lnTo>
                  <a:pt x="5044617" y="0"/>
                </a:lnTo>
                <a:lnTo>
                  <a:pt x="5044617" y="1440009"/>
                </a:lnTo>
                <a:lnTo>
                  <a:pt x="0" y="144000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734474" y="2418638"/>
            <a:ext cx="6327764" cy="3559367"/>
          </a:xfrm>
          <a:custGeom>
            <a:avLst/>
            <a:gdLst/>
            <a:ahLst/>
            <a:cxnLst/>
            <a:rect r="r" b="b" t="t" l="l"/>
            <a:pathLst>
              <a:path h="3559367" w="6327764">
                <a:moveTo>
                  <a:pt x="0" y="0"/>
                </a:moveTo>
                <a:lnTo>
                  <a:pt x="6327764" y="0"/>
                </a:lnTo>
                <a:lnTo>
                  <a:pt x="6327764" y="3559368"/>
                </a:lnTo>
                <a:lnTo>
                  <a:pt x="0" y="355936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734474" y="6287796"/>
            <a:ext cx="6474027" cy="3633548"/>
          </a:xfrm>
          <a:custGeom>
            <a:avLst/>
            <a:gdLst/>
            <a:ahLst/>
            <a:cxnLst/>
            <a:rect r="r" b="b" t="t" l="l"/>
            <a:pathLst>
              <a:path h="3633548" w="6474027">
                <a:moveTo>
                  <a:pt x="0" y="0"/>
                </a:moveTo>
                <a:lnTo>
                  <a:pt x="6474027" y="0"/>
                </a:lnTo>
                <a:lnTo>
                  <a:pt x="6474027" y="3633548"/>
                </a:lnTo>
                <a:lnTo>
                  <a:pt x="0" y="363354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343650" y="3475651"/>
            <a:ext cx="6615684" cy="4822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593EA1"/>
                </a:solidFill>
                <a:latin typeface="Poppins"/>
                <a:ea typeface="Poppins"/>
                <a:cs typeface="Poppins"/>
                <a:sym typeface="Poppins"/>
              </a:rPr>
              <a:t>Dashboard 1: Cross-City Comparison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593EA1"/>
                </a:solidFill>
                <a:latin typeface="Poppins"/>
                <a:ea typeface="Poppins"/>
                <a:cs typeface="Poppins"/>
                <a:sym typeface="Poppins"/>
              </a:rPr>
              <a:t>Average price by city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593EA1"/>
                </a:solidFill>
                <a:latin typeface="Poppins"/>
                <a:ea typeface="Poppins"/>
                <a:cs typeface="Poppins"/>
                <a:sym typeface="Poppins"/>
              </a:rPr>
              <a:t>Average rating by city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593EA1"/>
                </a:solidFill>
                <a:latin typeface="Poppins"/>
                <a:ea typeface="Poppins"/>
                <a:cs typeface="Poppins"/>
                <a:sym typeface="Poppins"/>
              </a:rPr>
              <a:t>Price vs Rating relationship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593EA1"/>
                </a:solidFill>
                <a:latin typeface="Poppins"/>
                <a:ea typeface="Poppins"/>
                <a:cs typeface="Poppins"/>
                <a:sym typeface="Poppins"/>
              </a:rPr>
              <a:t>City-level KPI comparison</a:t>
            </a: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593EA1"/>
                </a:solidFill>
                <a:latin typeface="Poppins"/>
                <a:ea typeface="Poppins"/>
                <a:cs typeface="Poppins"/>
                <a:sym typeface="Poppins"/>
              </a:rPr>
              <a:t>Dashboard 2: City-Level Analysis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593EA1"/>
                </a:solidFill>
                <a:latin typeface="Poppins"/>
                <a:ea typeface="Poppins"/>
                <a:cs typeface="Poppins"/>
                <a:sym typeface="Poppins"/>
              </a:rPr>
              <a:t>Price distribution (Histogram)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593EA1"/>
                </a:solidFill>
                <a:latin typeface="Poppins"/>
                <a:ea typeface="Poppins"/>
                <a:cs typeface="Poppins"/>
                <a:sym typeface="Poppins"/>
              </a:rPr>
              <a:t>Rating composition (%)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593EA1"/>
                </a:solidFill>
                <a:latin typeface="Poppins"/>
                <a:ea typeface="Poppins"/>
                <a:cs typeface="Poppins"/>
                <a:sym typeface="Poppins"/>
              </a:rPr>
              <a:t>Price vs Rating scatter plot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593EA1"/>
                </a:solidFill>
                <a:latin typeface="Poppins"/>
                <a:ea typeface="Poppins"/>
                <a:cs typeface="Poppins"/>
                <a:sym typeface="Poppins"/>
              </a:rPr>
              <a:t>Top 5 hotels of selected city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4399904" y="1584717"/>
            <a:ext cx="3333077" cy="1254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DASHBOARDS DEVELOPED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5400000">
            <a:off x="4523470" y="-1746889"/>
            <a:ext cx="9241060" cy="13699684"/>
          </a:xfrm>
          <a:custGeom>
            <a:avLst/>
            <a:gdLst/>
            <a:ahLst/>
            <a:cxnLst/>
            <a:rect r="r" b="b" t="t" l="l"/>
            <a:pathLst>
              <a:path h="13699684" w="9241060">
                <a:moveTo>
                  <a:pt x="9241060" y="0"/>
                </a:moveTo>
                <a:lnTo>
                  <a:pt x="0" y="0"/>
                </a:lnTo>
                <a:lnTo>
                  <a:pt x="0" y="13699684"/>
                </a:lnTo>
                <a:lnTo>
                  <a:pt x="9241060" y="13699684"/>
                </a:lnTo>
                <a:lnTo>
                  <a:pt x="924106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322416" y="1554783"/>
            <a:ext cx="4467450" cy="1275254"/>
          </a:xfrm>
          <a:custGeom>
            <a:avLst/>
            <a:gdLst/>
            <a:ahLst/>
            <a:cxnLst/>
            <a:rect r="r" b="b" t="t" l="l"/>
            <a:pathLst>
              <a:path h="1275254" w="4467450">
                <a:moveTo>
                  <a:pt x="0" y="0"/>
                </a:moveTo>
                <a:lnTo>
                  <a:pt x="4467450" y="0"/>
                </a:lnTo>
                <a:lnTo>
                  <a:pt x="4467450" y="1275254"/>
                </a:lnTo>
                <a:lnTo>
                  <a:pt x="0" y="127525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535620" y="1767563"/>
            <a:ext cx="3670718" cy="63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KEY INSIGHTS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227029" y="3770365"/>
            <a:ext cx="8287900" cy="3070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593EA1"/>
                </a:solidFill>
                <a:latin typeface="Poppins"/>
                <a:ea typeface="Poppins"/>
                <a:cs typeface="Poppins"/>
                <a:sym typeface="Poppins"/>
              </a:rPr>
              <a:t>Higher price does not consistently lead to higher ratings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593EA1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499">
                <a:solidFill>
                  <a:srgbClr val="593EA1"/>
                </a:solidFill>
                <a:latin typeface="Poppins"/>
                <a:ea typeface="Poppins"/>
                <a:cs typeface="Poppins"/>
                <a:sym typeface="Poppins"/>
              </a:rPr>
              <a:t>atings are concentrated between 7–8 across cities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593EA1"/>
                </a:solidFill>
                <a:latin typeface="Poppins"/>
                <a:ea typeface="Poppins"/>
                <a:cs typeface="Poppins"/>
                <a:sym typeface="Poppins"/>
              </a:rPr>
              <a:t>M</a:t>
            </a:r>
            <a:r>
              <a:rPr lang="en-US" sz="2499">
                <a:solidFill>
                  <a:srgbClr val="593EA1"/>
                </a:solidFill>
                <a:latin typeface="Poppins"/>
                <a:ea typeface="Poppins"/>
                <a:cs typeface="Poppins"/>
                <a:sym typeface="Poppins"/>
              </a:rPr>
              <a:t>id-priced hotels often outperform premium hotels</a:t>
            </a:r>
          </a:p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593EA1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499">
                <a:solidFill>
                  <a:srgbClr val="593EA1"/>
                </a:solidFill>
                <a:latin typeface="Poppins"/>
                <a:ea typeface="Poppins"/>
                <a:cs typeface="Poppins"/>
                <a:sym typeface="Poppins"/>
              </a:rPr>
              <a:t>eview volume improves rating reliability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5400000">
            <a:off x="4523470" y="-1746889"/>
            <a:ext cx="9241060" cy="13699684"/>
          </a:xfrm>
          <a:custGeom>
            <a:avLst/>
            <a:gdLst/>
            <a:ahLst/>
            <a:cxnLst/>
            <a:rect r="r" b="b" t="t" l="l"/>
            <a:pathLst>
              <a:path h="13699684" w="9241060">
                <a:moveTo>
                  <a:pt x="9241060" y="0"/>
                </a:moveTo>
                <a:lnTo>
                  <a:pt x="0" y="0"/>
                </a:lnTo>
                <a:lnTo>
                  <a:pt x="0" y="13699684"/>
                </a:lnTo>
                <a:lnTo>
                  <a:pt x="9241060" y="13699684"/>
                </a:lnTo>
                <a:lnTo>
                  <a:pt x="924106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310326" y="1028700"/>
            <a:ext cx="7337277" cy="2094459"/>
          </a:xfrm>
          <a:custGeom>
            <a:avLst/>
            <a:gdLst/>
            <a:ahLst/>
            <a:cxnLst/>
            <a:rect r="r" b="b" t="t" l="l"/>
            <a:pathLst>
              <a:path h="2094459" w="7337277">
                <a:moveTo>
                  <a:pt x="0" y="0"/>
                </a:moveTo>
                <a:lnTo>
                  <a:pt x="7337277" y="0"/>
                </a:lnTo>
                <a:lnTo>
                  <a:pt x="7337277" y="2094459"/>
                </a:lnTo>
                <a:lnTo>
                  <a:pt x="0" y="209445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935272" y="3670667"/>
            <a:ext cx="8417455" cy="4822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593EA1"/>
                </a:solidFill>
                <a:latin typeface="Poppins"/>
                <a:ea typeface="Poppins"/>
                <a:cs typeface="Poppins"/>
                <a:sym typeface="Poppins"/>
              </a:rPr>
              <a:t>For Hotel Owners: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593EA1"/>
                </a:solidFill>
                <a:latin typeface="Poppins"/>
                <a:ea typeface="Poppins"/>
                <a:cs typeface="Poppins"/>
                <a:sym typeface="Poppins"/>
              </a:rPr>
              <a:t>Align pricing with customer-perceived value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593EA1"/>
                </a:solidFill>
                <a:latin typeface="Poppins"/>
                <a:ea typeface="Poppins"/>
                <a:cs typeface="Poppins"/>
                <a:sym typeface="Poppins"/>
              </a:rPr>
              <a:t>Improve service quality to justify premium pricing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593EA1"/>
                </a:solidFill>
                <a:latin typeface="Poppins"/>
                <a:ea typeface="Poppins"/>
                <a:cs typeface="Poppins"/>
                <a:sym typeface="Poppins"/>
              </a:rPr>
              <a:t>Encourage customer reviews to build trust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593EA1"/>
                </a:solidFill>
                <a:latin typeface="Poppins"/>
                <a:ea typeface="Poppins"/>
                <a:cs typeface="Poppins"/>
                <a:sym typeface="Poppins"/>
              </a:rPr>
              <a:t>For Travel Platforms: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593EA1"/>
                </a:solidFill>
                <a:latin typeface="Poppins"/>
                <a:ea typeface="Poppins"/>
                <a:cs typeface="Poppins"/>
                <a:sym typeface="Poppins"/>
              </a:rPr>
              <a:t>Highlight value-for-money hotels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593EA1"/>
                </a:solidFill>
                <a:latin typeface="Poppins"/>
                <a:ea typeface="Poppins"/>
                <a:cs typeface="Poppins"/>
                <a:sym typeface="Poppins"/>
              </a:rPr>
              <a:t>Improve filtering based on price and rating combinations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593EA1"/>
                </a:solidFill>
                <a:latin typeface="Poppins"/>
                <a:ea typeface="Poppins"/>
                <a:cs typeface="Poppins"/>
                <a:sym typeface="Poppins"/>
              </a:rPr>
              <a:t>For Travelers:</a:t>
            </a:r>
          </a:p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593EA1"/>
                </a:solidFill>
                <a:latin typeface="Poppins"/>
                <a:ea typeface="Poppins"/>
                <a:cs typeface="Poppins"/>
                <a:sym typeface="Poppins"/>
              </a:rPr>
              <a:t>Focus on ratings and reviews rather than price alone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851620" y="1396480"/>
            <a:ext cx="6254690" cy="1254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BUSINESS RECOMMENDATIONS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5400000">
            <a:off x="3194433" y="-1746889"/>
            <a:ext cx="9241060" cy="13699684"/>
          </a:xfrm>
          <a:custGeom>
            <a:avLst/>
            <a:gdLst/>
            <a:ahLst/>
            <a:cxnLst/>
            <a:rect r="r" b="b" t="t" l="l"/>
            <a:pathLst>
              <a:path h="13699684" w="9241060">
                <a:moveTo>
                  <a:pt x="9241059" y="0"/>
                </a:moveTo>
                <a:lnTo>
                  <a:pt x="0" y="0"/>
                </a:lnTo>
                <a:lnTo>
                  <a:pt x="0" y="13699684"/>
                </a:lnTo>
                <a:lnTo>
                  <a:pt x="9241059" y="13699684"/>
                </a:lnTo>
                <a:lnTo>
                  <a:pt x="924105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374061" y="1688163"/>
            <a:ext cx="4744410" cy="1354313"/>
          </a:xfrm>
          <a:custGeom>
            <a:avLst/>
            <a:gdLst/>
            <a:ahLst/>
            <a:cxnLst/>
            <a:rect r="r" b="b" t="t" l="l"/>
            <a:pathLst>
              <a:path h="1354313" w="4744410">
                <a:moveTo>
                  <a:pt x="0" y="0"/>
                </a:moveTo>
                <a:lnTo>
                  <a:pt x="4744410" y="0"/>
                </a:lnTo>
                <a:lnTo>
                  <a:pt x="4744410" y="1354313"/>
                </a:lnTo>
                <a:lnTo>
                  <a:pt x="0" y="135431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770248" y="3170159"/>
            <a:ext cx="8089429" cy="263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593EA1"/>
                </a:solidFill>
                <a:latin typeface="Poppins"/>
                <a:ea typeface="Poppins"/>
                <a:cs typeface="Poppins"/>
                <a:sym typeface="Poppins"/>
              </a:rPr>
              <a:t>Dataset represents a sample of hotels, not the entire city market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593EA1"/>
                </a:solidFill>
                <a:latin typeface="Poppins"/>
                <a:ea typeface="Poppins"/>
                <a:cs typeface="Poppins"/>
                <a:sym typeface="Poppins"/>
              </a:rPr>
              <a:t>Prices may vary based on season and availability</a:t>
            </a:r>
          </a:p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593EA1"/>
                </a:solidFill>
                <a:latin typeface="Poppins"/>
                <a:ea typeface="Poppins"/>
                <a:cs typeface="Poppins"/>
                <a:sym typeface="Poppins"/>
              </a:rPr>
              <a:t>Ratings are subjective and influenced by review volume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587265" y="1900942"/>
            <a:ext cx="4036375" cy="63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LIMITATIONS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5400000">
            <a:off x="3194433" y="-1746889"/>
            <a:ext cx="9241060" cy="13699684"/>
          </a:xfrm>
          <a:custGeom>
            <a:avLst/>
            <a:gdLst/>
            <a:ahLst/>
            <a:cxnLst/>
            <a:rect r="r" b="b" t="t" l="l"/>
            <a:pathLst>
              <a:path h="13699684" w="9241060">
                <a:moveTo>
                  <a:pt x="9241059" y="0"/>
                </a:moveTo>
                <a:lnTo>
                  <a:pt x="0" y="0"/>
                </a:lnTo>
                <a:lnTo>
                  <a:pt x="0" y="13699684"/>
                </a:lnTo>
                <a:lnTo>
                  <a:pt x="9241059" y="13699684"/>
                </a:lnTo>
                <a:lnTo>
                  <a:pt x="924105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101965" y="1654716"/>
            <a:ext cx="5425995" cy="1548875"/>
          </a:xfrm>
          <a:custGeom>
            <a:avLst/>
            <a:gdLst/>
            <a:ahLst/>
            <a:cxnLst/>
            <a:rect r="r" b="b" t="t" l="l"/>
            <a:pathLst>
              <a:path h="1548875" w="5425995">
                <a:moveTo>
                  <a:pt x="0" y="0"/>
                </a:moveTo>
                <a:lnTo>
                  <a:pt x="5425995" y="0"/>
                </a:lnTo>
                <a:lnTo>
                  <a:pt x="5425995" y="1548875"/>
                </a:lnTo>
                <a:lnTo>
                  <a:pt x="0" y="154887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467684" y="2059266"/>
            <a:ext cx="4353277" cy="63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152616" y="3811720"/>
            <a:ext cx="7646382" cy="3508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593EA1"/>
                </a:solidFill>
                <a:latin typeface="Poppins"/>
                <a:ea typeface="Poppins"/>
                <a:cs typeface="Poppins"/>
                <a:sym typeface="Poppins"/>
              </a:rPr>
              <a:t>Delivered a complete hotel analytics solution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593EA1"/>
                </a:solidFill>
                <a:latin typeface="Poppins"/>
                <a:ea typeface="Poppins"/>
                <a:cs typeface="Poppins"/>
                <a:sym typeface="Poppins"/>
              </a:rPr>
              <a:t>Combined web scraping, Python-based EDA, and Power BI dashboards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593EA1"/>
                </a:solidFill>
                <a:latin typeface="Poppins"/>
                <a:ea typeface="Poppins"/>
                <a:cs typeface="Poppins"/>
                <a:sym typeface="Poppins"/>
              </a:rPr>
              <a:t>Identified pricing inefficiencies and value-for-money insights</a:t>
            </a:r>
          </a:p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593EA1"/>
                </a:solidFill>
                <a:latin typeface="Poppins"/>
                <a:ea typeface="Poppins"/>
                <a:cs typeface="Poppins"/>
                <a:sym typeface="Poppins"/>
              </a:rPr>
              <a:t>Provided actionable recommendations for multiple stakeholders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5400000">
            <a:off x="4906679" y="-1009491"/>
            <a:ext cx="8448813" cy="12525195"/>
          </a:xfrm>
          <a:custGeom>
            <a:avLst/>
            <a:gdLst/>
            <a:ahLst/>
            <a:cxnLst/>
            <a:rect r="r" b="b" t="t" l="l"/>
            <a:pathLst>
              <a:path h="12525195" w="8448813">
                <a:moveTo>
                  <a:pt x="8448814" y="0"/>
                </a:moveTo>
                <a:lnTo>
                  <a:pt x="0" y="0"/>
                </a:lnTo>
                <a:lnTo>
                  <a:pt x="0" y="12525195"/>
                </a:lnTo>
                <a:lnTo>
                  <a:pt x="8448814" y="12525195"/>
                </a:lnTo>
                <a:lnTo>
                  <a:pt x="8448814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750115" y="5917815"/>
            <a:ext cx="5116689" cy="1460582"/>
          </a:xfrm>
          <a:custGeom>
            <a:avLst/>
            <a:gdLst/>
            <a:ahLst/>
            <a:cxnLst/>
            <a:rect r="r" b="b" t="t" l="l"/>
            <a:pathLst>
              <a:path h="1460582" w="5116689">
                <a:moveTo>
                  <a:pt x="0" y="0"/>
                </a:moveTo>
                <a:lnTo>
                  <a:pt x="5116689" y="0"/>
                </a:lnTo>
                <a:lnTo>
                  <a:pt x="5116689" y="1460582"/>
                </a:lnTo>
                <a:lnTo>
                  <a:pt x="0" y="146058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801129" y="6274591"/>
            <a:ext cx="4685742" cy="542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Any Questions?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760814" y="2856260"/>
            <a:ext cx="8740544" cy="2985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031"/>
              </a:lnSpc>
              <a:spcBef>
                <a:spcPct val="0"/>
              </a:spcBef>
            </a:pPr>
            <a:r>
              <a:rPr lang="en-US" b="true" sz="11031" strike="noStrike" u="none">
                <a:solidFill>
                  <a:srgbClr val="6943A4"/>
                </a:solidFill>
                <a:latin typeface="Poppins Bold"/>
                <a:ea typeface="Poppins Bold"/>
                <a:cs typeface="Poppins Bold"/>
                <a:sym typeface="Poppins Bold"/>
              </a:rPr>
              <a:t>THANK</a:t>
            </a:r>
          </a:p>
          <a:p>
            <a:pPr algn="ctr" marL="0" indent="0" lvl="0">
              <a:lnSpc>
                <a:spcPts val="11031"/>
              </a:lnSpc>
              <a:spcBef>
                <a:spcPct val="0"/>
              </a:spcBef>
            </a:pPr>
            <a:r>
              <a:rPr lang="en-US" b="true" sz="11031" strike="noStrike" u="none">
                <a:solidFill>
                  <a:srgbClr val="6943A4"/>
                </a:solidFill>
                <a:latin typeface="Poppins Bold"/>
                <a:ea typeface="Poppins Bold"/>
                <a:cs typeface="Poppins Bold"/>
                <a:sym typeface="Poppins Bold"/>
              </a:rPr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DAHAxDGb1ug</dc:identifier>
  <dcterms:modified xsi:type="dcterms:W3CDTF">2011-08-01T06:04:30Z</dcterms:modified>
  <cp:revision>1</cp:revision>
  <dc:title>Project_PPT</dc:title>
</cp:coreProperties>
</file>